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u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1143000" cy="10241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57400" y="457200"/>
            <a:ext cx="9400032" cy="11887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DEPARTMENT OF COMPUTER SCIENCE AND ENGINEERING • SONARGAON UNIVERSITY (SU)</a:t>
            </a:r>
          </a:p>
          <a:p>
            <a:pPr>
              <a:spcBef>
                <a:spcPts val="400"/>
              </a:spcBef>
              <a:defRPr sz="1900" b="1">
                <a:solidFill>
                  <a:srgbClr val="0F172A"/>
                </a:solidFill>
              </a:defRPr>
            </a:pPr>
            <a:r>
              <a:t>ADVANCE TRAVEL: A MODERN WEB-BASED TOURISM MANAGEMENT AND AUTOMATED BOOKING PLATFORM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Submitted in partial fulfillment of the requirements for the degree of Bachelor of Science in CSE • September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3401568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39111"/>
            <a:ext cx="1828800" cy="228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🎙️ PRESENTER 1 (LEAD)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13431"/>
            <a:ext cx="303580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50" b="1">
                <a:solidFill>
                  <a:srgbClr val="0F172A"/>
                </a:solidFill>
              </a:defRPr>
            </a:pPr>
            <a:r>
              <a:t>Md. Amir Shorif Misty</a:t>
            </a:r>
          </a:p>
          <a:p>
            <a:pPr>
              <a:spcBef>
                <a:spcPts val="200"/>
              </a:spcBef>
              <a:defRPr sz="1100" b="1">
                <a:solidFill>
                  <a:srgbClr val="2563EB"/>
                </a:solidFill>
              </a:defRPr>
            </a:pPr>
            <a:r>
              <a:t>ID: CSE2203027142</a:t>
            </a:r>
          </a:p>
          <a:p>
            <a:pPr>
              <a:spcBef>
                <a:spcPts val="400"/>
              </a:spcBef>
              <a:defRPr sz="950" b="1">
                <a:solidFill>
                  <a:srgbClr val="334155"/>
                </a:solidFill>
              </a:defRPr>
            </a:pPr>
            <a:r>
              <a:t>Lead Backend Architect &amp; Security Engineer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• Laravel 12 Enterprise Architecture Setup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• Authentication &amp; RBAC Middleware Pipeline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• Cryptographic Security (Bcrypt, CSRF, SHA-512)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• RESTful API Design &amp; Session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74519"/>
            <a:ext cx="3401568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2039111"/>
            <a:ext cx="1828800" cy="2286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🎙️ PRESENTER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13431"/>
            <a:ext cx="303580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50" b="1">
                <a:solidFill>
                  <a:srgbClr val="0F172A"/>
                </a:solidFill>
              </a:defRPr>
            </a:pPr>
            <a:r>
              <a:t>Efaz Ahammad Thalha</a:t>
            </a:r>
          </a:p>
          <a:p>
            <a:pPr>
              <a:spcBef>
                <a:spcPts val="200"/>
              </a:spcBef>
              <a:defRPr sz="1100" b="1">
                <a:solidFill>
                  <a:srgbClr val="059669"/>
                </a:solidFill>
              </a:defRPr>
            </a:pPr>
            <a:r>
              <a:t>ID: CSE2203027172</a:t>
            </a:r>
          </a:p>
          <a:p>
            <a:pPr>
              <a:spcBef>
                <a:spcPts val="400"/>
              </a:spcBef>
              <a:defRPr sz="950" b="1">
                <a:solidFill>
                  <a:srgbClr val="334155"/>
                </a:solidFill>
              </a:defRPr>
            </a:pPr>
            <a:r>
              <a:t>Frontend Lead &amp; UI/UX Developer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• Responsive Blade Layouts &amp; CSS Design System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• Interactive Destination Showcase &amp; Catalog UI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• Dynamic Booking &amp; Guest Demographic Interface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• Mobile-First Cross-Device Optimization &amp; UI Demo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74519"/>
            <a:ext cx="3401568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2039111"/>
            <a:ext cx="1828800" cy="2286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97706"/>
                </a:solidFill>
              </a:defRPr>
            </a:pPr>
            <a:r>
              <a:t>🎙️ PRESENTER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313431"/>
            <a:ext cx="303580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50" b="1">
                <a:solidFill>
                  <a:srgbClr val="0F172A"/>
                </a:solidFill>
              </a:defRPr>
            </a:pPr>
            <a:r>
              <a:t>Md. Abdur Rakib</a:t>
            </a:r>
          </a:p>
          <a:p>
            <a:pPr>
              <a:spcBef>
                <a:spcPts val="200"/>
              </a:spcBef>
              <a:defRPr sz="1100" b="1">
                <a:solidFill>
                  <a:srgbClr val="D97706"/>
                </a:solidFill>
              </a:defRPr>
            </a:pPr>
            <a:r>
              <a:t>ID: CSE2203027141</a:t>
            </a:r>
          </a:p>
          <a:p>
            <a:pPr>
              <a:spcBef>
                <a:spcPts val="400"/>
              </a:spcBef>
              <a:defRPr sz="950" b="1">
                <a:solidFill>
                  <a:srgbClr val="334155"/>
                </a:solidFill>
              </a:defRPr>
            </a:pPr>
            <a:r>
              <a:t>Database Architect &amp; Data Systems Engineer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• Relational Database Schema Design &amp; 3NF ERD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• Data Integrity, Foreign Keys &amp; Schema Migrations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• Concurrency Control &amp; Pessimistic Row Locking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• Administrative BI Analytics &amp; QA Testing Matrices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10912"/>
            <a:ext cx="10728655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074920"/>
            <a:ext cx="10271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ACADEMIC SUPERVISION &amp; DEPARTMENTAL OVERSIGHT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Supervised by: Md. Rashedul Islam  •  Lecturer, Department of Computer Science and Engineering, Sonargaon University (SU)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</a:defRPr>
            </a:pPr>
            <a:r>
              <a:t>Department Head: Prof. Bulbul Ahamed  •  Head, Department of Computer Science and Engineering, Sonargaon University (SU)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446520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Advance Travel • B.Sc. in CSE Capstone Project Defense • Sonargaon University (SU)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rial"/>
              </a:defRPr>
            </a:pPr>
            <a:r>
              <a:t>Slide 1 of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6217920" cy="237744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00" b="1">
                <a:solidFill>
                  <a:srgbClr val="93C5FD"/>
                </a:solidFill>
                <a:latin typeface="Arial"/>
              </a:defRPr>
            </a:pPr>
            <a:r>
              <a:t>SONARGAON UNIVERSITY  •  CHAPTER 1: INTRODUCTION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71055" y="109728"/>
            <a:ext cx="4389120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🎙️ MD. AMIR SHORIF MISTY  |  Lead Backend Architect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Motivation &amp; Problem Statement: The Domestic Tourism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Analyzing systemic operational bottlenecks in traditional agency workflows vs. modern web automation (Chapter 1)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Advance Travel • B.Sc. in CSE Capstone Project Defense • Sonargaon University (SU)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rial"/>
              </a:defRPr>
            </a:pPr>
            <a:r>
              <a:t>Slide 2 of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230368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645920"/>
            <a:ext cx="4773168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E11D48"/>
                </a:solidFill>
              </a:defRPr>
            </a:pPr>
            <a:r>
              <a:t>❌ TRADITIONAL MANUAL OVERHEAD (THE PROBLEM)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</a:defRPr>
            </a:pPr>
            <a:r>
              <a:t>• Fragmented &amp; Opaque Booking Workflows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Planning multi-day tours requires separate visits to physical bus counters, railway stations, and hoteliers with unverified amenities.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</a:defRPr>
            </a:pPr>
            <a:r>
              <a:t>• Inefficient Cash Transactions &amp; Overcrowding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Cash-on-counter accounting causes severe terminal congestion during peak festive seasons (Eid), leading to long queues and revenue leakage.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</a:defRPr>
            </a:pPr>
            <a:r>
              <a:t>• Ticket Scalping &amp; Physical Pass Counterfeiting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Paper vouchers are easily damaged, stolen, or forged by unauthorized scalpers without any cryptographic tamper-detection.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</a:defRPr>
            </a:pPr>
            <a:r>
              <a:t>• Absence of Real-Time Administrative Intelligence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Small-to-medium operators rely on manual paper ledgers or notebooks, lacking centralized data visualization for dynamic inventory control.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230368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45920"/>
            <a:ext cx="4773168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59669"/>
                </a:solidFill>
              </a:defRPr>
            </a:pPr>
            <a:r>
              <a:t>✨ ADVANCE TRAVEL ENGINEERED AUTOMATION (OUR SOLUTION)</a:t>
            </a:r>
          </a:p>
          <a:p>
            <a:pPr>
              <a:spcBef>
                <a:spcPts val="1200"/>
              </a:spcBef>
              <a:defRPr sz="1100" b="1">
                <a:solidFill>
                  <a:srgbClr val="059669"/>
                </a:solidFill>
              </a:defRPr>
            </a:pPr>
            <a:r>
              <a:t>✓ Unified Multi-Modal Marketplace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t>Curated vacation packages combining luxury bus, express train, domestic flight, and hotel bookings in a single digital web portal.</a:t>
            </a:r>
          </a:p>
          <a:p>
            <a:pPr>
              <a:spcBef>
                <a:spcPts val="1200"/>
              </a:spcBef>
              <a:defRPr sz="1100" b="1">
                <a:solidFill>
                  <a:srgbClr val="059669"/>
                </a:solidFill>
              </a:defRPr>
            </a:pPr>
            <a:r>
              <a:t>✓ Automated Multi-Channel Cashless Settlement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t>Seamless integration with SSLCommerz payment gateway supporting Cards, bKash, Nagad, Rocket, and optional cash-on-boarding.</a:t>
            </a:r>
          </a:p>
          <a:p>
            <a:pPr>
              <a:spcBef>
                <a:spcPts val="1200"/>
              </a:spcBef>
              <a:defRPr sz="1100" b="1">
                <a:solidFill>
                  <a:srgbClr val="059669"/>
                </a:solidFill>
              </a:defRPr>
            </a:pPr>
            <a:r>
              <a:t>✓ Cryptographic QR Digital Boarding Passes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t>High-density QR e-tickets generated upon payment with sub-second gate authentication using standard camera-enabled smartphones.</a:t>
            </a:r>
          </a:p>
          <a:p>
            <a:pPr>
              <a:spcBef>
                <a:spcPts val="1200"/>
              </a:spcBef>
              <a:defRPr sz="1100" b="1">
                <a:solidFill>
                  <a:srgbClr val="059669"/>
                </a:solidFill>
              </a:defRPr>
            </a:pPr>
            <a:r>
              <a:t>✓ Enterprise Administrative BI Suite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t>Real-time revenue metrics, package CRUD controls, booking lifecycle tracking, and automated customer refund processing.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6217920" cy="237744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00" b="1">
                <a:solidFill>
                  <a:srgbClr val="93C5FD"/>
                </a:solidFill>
                <a:latin typeface="Arial"/>
              </a:defRPr>
            </a:pPr>
            <a:r>
              <a:t>SONARGAON UNIVERSITY  •  CHAPTER 2: LITERATURE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71055" y="109728"/>
            <a:ext cx="4389120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🎙️ MD. AMIR SHORIF MISTY  |  Lead Backend Architect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Literature Review &amp; Competitive Feature Benchmarking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Evaluating contemporary travel platforms and identifying key technical gaps (Chapter 2, Table 2.1)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Advance Travel • B.Sc. in CSE Capstone Project Defense • Sonargaon University (SU)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rial"/>
              </a:defRPr>
            </a:pPr>
            <a:r>
              <a:t>Slide 3 of 16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463040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295"/>
                <a:gridCol w="2011680"/>
                <a:gridCol w="2011680"/>
                <a:gridCol w="2103120"/>
                <a:gridCol w="2468880"/>
              </a:tblGrid>
              <a:tr h="49638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Evaluation Criteria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 Agencies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Shohoz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GoZayaan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Advance Travel (Proposed)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Platform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Manual / Offline Paper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Centralized Web / Mobile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Centralized Web / Mobile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Modern Laravel 12 MVC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Package Customization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Limited / Manual Phone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Transit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Flight / Hotel Focused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Full Tour &amp; Room Customizer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Payment Methods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Physical Cash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Cards, MFS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Cards, MFS, EMI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SSLCommerz (Cards/MFS) + Cash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Digital Boarding 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None (Carbon Paper)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SMS / Basic PDF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Email PDF Voucher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Responsive E-Ticket + Dynamic QR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Gate QR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Visual Inspection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Proprietary Handheld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Manual Voucher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Universal Web-Based QR Portal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Admin Analytics Suite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Physical Ledgers / Excel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Proprietary Corporate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Proprietary Corporate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Built-in Real-Time Analytics CRUD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31520" y="5120640"/>
            <a:ext cx="10728655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193792"/>
            <a:ext cx="102714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KEY COMPETITIVE RESEARCH GAPS ADDRESSED BY ADVANCE TRAVEL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t>1. Unified Multi-Modal Packages: Eliminates disconnected transit/lodging modules by offering unified vacation bundles.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t>2. Universal Gate Inspection: Replaces costly proprietary handheld barcode scanners with camera-accessible web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6217920" cy="237744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00" b="1">
                <a:solidFill>
                  <a:srgbClr val="93C5FD"/>
                </a:solidFill>
                <a:latin typeface="Arial"/>
              </a:defRPr>
            </a:pPr>
            <a:r>
              <a:t>SONARGAON UNIVERSITY  •  CHAPTER 3: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71055" y="109728"/>
            <a:ext cx="4389120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🎙️ MD. AMIR SHORIF MISTY  |  Lead Backend Architect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Three-Tier Model-View-Controller (MVC)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Decoupled presentation, application business logic, and backend data persistence (Chapter 3, Figure 3.1)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Advance Travel • B.Sc. in CSE Capstone Project Defense • Sonargaon University (SU)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rial"/>
              </a:defRPr>
            </a:pPr>
            <a:r>
              <a:t>Slide 4 of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658368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645412"/>
            <a:ext cx="6437376" cy="41615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5971032"/>
            <a:ext cx="65836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950" b="1">
                <a:solidFill>
                  <a:srgbClr val="334155"/>
                </a:solidFill>
                <a:latin typeface="Arial"/>
              </a:defRPr>
            </a:pPr>
            <a:r>
              <a:t>Figure 3.1: High-Level Three-Tier System Architecture of Advance Travel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463040"/>
            <a:ext cx="3913632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1600200"/>
            <a:ext cx="3547872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KEY ARCHITECTURAL PILLARS</a:t>
            </a:r>
          </a:p>
          <a:p>
            <a:pPr>
              <a:spcBef>
                <a:spcPts val="1200"/>
              </a:spcBef>
              <a:defRPr sz="1100" b="1">
                <a:solidFill>
                  <a:srgbClr val="2563EB"/>
                </a:solidFill>
              </a:defRPr>
            </a:pPr>
            <a:r>
              <a:t>🖥️ Presentation Tier (Client Layer)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t>• Blade templating engine with Tailwind CSS &amp; custom Bootstrap utilities</a:t>
            </a:r>
            <a:br/>
            <a:r>
              <a:t>• Assembles dynamic, responsive, mobile-first interfaces</a:t>
            </a:r>
            <a:br/>
            <a:r>
              <a:t>• Transmits user interactions via secure HTTP/HTTPS requests</a:t>
            </a:r>
            <a:br/>
            <a:r>
              <a:t>• W3C compliant accessible DOM elements</a:t>
            </a:r>
          </a:p>
          <a:p>
            <a:pPr>
              <a:spcBef>
                <a:spcPts val="1200"/>
              </a:spcBef>
              <a:defRPr sz="1100" b="1">
                <a:solidFill>
                  <a:srgbClr val="4F46E5"/>
                </a:solidFill>
              </a:defRPr>
            </a:pPr>
            <a:r>
              <a:t>⚙️ Application &amp; Logic Tier (Server)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t>• Powered by PHP 8.4 runtime and Laravel 12 Enterprise MVC</a:t>
            </a:r>
            <a:br/>
            <a:r>
              <a:t>• Enforces session security, CSRF protection, and RBAC (`is_admin`)</a:t>
            </a:r>
            <a:br/>
            <a:r>
              <a:t>• Dedicated controllers: Page, Booking, Auth, SSLCommerz, Admin</a:t>
            </a:r>
            <a:br/>
            <a:r>
              <a:t>• Eloquent ORM abstraction for optimized SQL transactions</a:t>
            </a:r>
          </a:p>
          <a:p>
            <a:pPr>
              <a:spcBef>
                <a:spcPts val="1200"/>
              </a:spcBef>
              <a:defRPr sz="1100" b="1">
                <a:solidFill>
                  <a:srgbClr val="059669"/>
                </a:solidFill>
              </a:defRPr>
            </a:pPr>
            <a:r>
              <a:t>🗄️ Data Storage &amp; External Services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t>• Relational SQLite/MySQL database with ACID guarantees</a:t>
            </a:r>
            <a:br/>
            <a:r>
              <a:t>• Direct integration with SSLCommerz payment gateway (REST/IPN)</a:t>
            </a:r>
            <a:br/>
            <a:r>
              <a:t>• High-density QR matrix generation engine</a:t>
            </a:r>
            <a:br/>
            <a:r>
              <a:t>• Asynchronous REST endpoint servicing live flight tracking feeds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6217920" cy="237744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00" b="1">
                <a:solidFill>
                  <a:srgbClr val="93C5FD"/>
                </a:solidFill>
                <a:latin typeface="Arial"/>
              </a:defRPr>
            </a:pPr>
            <a:r>
              <a:t>SONARGAON UNIVERSITY  •  CHAPTER 3: DATABASE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71055" y="109728"/>
            <a:ext cx="4389120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🎙️ MD. ABDUR RAKIB  |  Database Architect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Relational Database Schema Design &amp; 3NF Normalization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Methodical normalization analysis eliminating insertion, update, and deletion anomalies (Chapter 3, Figure 3.6)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Advance Travel • B.Sc. in CSE Capstone Project Defense • Sonargaon University (SU)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rial"/>
              </a:defRPr>
            </a:pPr>
            <a:r>
              <a:t>Slide 5 of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658368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ig_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541015"/>
            <a:ext cx="6437376" cy="43703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5971032"/>
            <a:ext cx="65836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950" b="1">
                <a:solidFill>
                  <a:srgbClr val="334155"/>
                </a:solidFill>
                <a:latin typeface="Arial"/>
              </a:defRPr>
            </a:pPr>
            <a:r>
              <a:t>Figure 3.6: Entity-Relationship Diagram (ERD) of Normalized Database Schema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463040"/>
            <a:ext cx="3913632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1600200"/>
            <a:ext cx="3547872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DATABASE NORMALIZATION ANALYSIS</a:t>
            </a:r>
          </a:p>
          <a:p>
            <a:pPr>
              <a:spcBef>
                <a:spcPts val="1000"/>
              </a:spcBef>
              <a:defRPr sz="1100" b="1">
                <a:solidFill>
                  <a:srgbClr val="4F46E5"/>
                </a:solidFill>
              </a:defRPr>
            </a:pPr>
            <a:r>
              <a:t>🔗 1NF &amp; 2NF Normalization Principles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First Normal Form (1NF): All attributes are atomic and indivisible. Multi-valued fields (passenger contacts, seats) are flattened into linked relations.</a:t>
            </a:r>
            <a:br/>
            <a:r>
              <a:t>• Second Normal Form (2NF): Primary keys consist of single surrogate keys (`id : bigint`), inherently eliminating partial functional dependencies.</a:t>
            </a:r>
          </a:p>
          <a:p>
            <a:pPr>
              <a:spcBef>
                <a:spcPts val="1000"/>
              </a:spcBef>
              <a:defRPr sz="1100" b="1">
                <a:solidFill>
                  <a:srgbClr val="2563EB"/>
                </a:solidFill>
              </a:defRPr>
            </a:pPr>
            <a:r>
              <a:t>🛡️ 3NF Transitive Dependency Elimination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Third Normal Form (3NF): No non-key attribute is transitively dependent on the primary key.</a:t>
            </a:r>
            <a:br/>
            <a:r>
              <a:t>• Traveler credentials (`users`) and package details (`packages`) are decoupled from reservations: `bookings` stores `user_id` and `package_id` as foreign keys without duplicating itinerary details.</a:t>
            </a:r>
          </a:p>
          <a:p>
            <a:pPr>
              <a:spcBef>
                <a:spcPts val="1000"/>
              </a:spcBef>
              <a:defRPr sz="1100" b="1">
                <a:solidFill>
                  <a:srgbClr val="059669"/>
                </a:solidFill>
              </a:defRPr>
            </a:pPr>
            <a:r>
              <a:t>🔒 Referential Integrity &amp; Atomic Cascades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Foreign key constraints enforce referential integrity across users, packages, bookings, and payments.</a:t>
            </a:r>
            <a:br/>
            <a:r>
              <a:t>• Cascading delete safeguards prevent orphaned records across transaction ledgers.</a:t>
            </a:r>
            <a:br/>
            <a:r>
              <a:t>• Row-level locks protect seat inventory from concurrent checkout collisions.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6217920" cy="237744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00" b="1">
                <a:solidFill>
                  <a:srgbClr val="93C5FD"/>
                </a:solidFill>
                <a:latin typeface="Arial"/>
              </a:defRPr>
            </a:pPr>
            <a:r>
              <a:t>SONARGAON UNIVERSITY  •  CHAPTER 4: USER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71055" y="109728"/>
            <a:ext cx="4389120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🎙️ EFAZ AHAMMAD THALHA  |  Frontend Lead &amp; UI/UX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Customer Experience: Destination Exploration &amp; Tour Catalog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Responsive UI design system with dynamic filtering across transit modes and regions (Chapter 4, Figs 4.2 &amp; 4.4)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Advance Travel • B.Sc. in CSE Capstone Project Defense • Sonargaon University (SU)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rial"/>
              </a:defRPr>
            </a:pPr>
            <a:r>
              <a:t>Slide 6 of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230368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" y="1536192"/>
            <a:ext cx="4959705" cy="30998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4690872"/>
            <a:ext cx="5230368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950" b="1">
                <a:solidFill>
                  <a:srgbClr val="334155"/>
                </a:solidFill>
                <a:latin typeface="Arial"/>
              </a:defRPr>
            </a:pPr>
            <a:r>
              <a:t>Figure 4.2: Customer Landing Page Hero Section with Featured Tours and Search Controls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230368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creenshot_pack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124" y="1536192"/>
            <a:ext cx="4667958" cy="30998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17920" y="4690872"/>
            <a:ext cx="5230368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950" b="1">
                <a:solidFill>
                  <a:srgbClr val="334155"/>
                </a:solidFill>
                <a:latin typeface="Arial"/>
              </a:defRPr>
            </a:pPr>
            <a:r>
              <a:t>Figure 4.4: Tour Packages Catalog with Dynamic Filtering and Multi-Modal Transit Badges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20640"/>
            <a:ext cx="34015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230368"/>
            <a:ext cx="3127248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🔍 Multi-Modal Transit Filtering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</a:defRPr>
            </a:pPr>
            <a:r>
              <a:t>Instant client-side sorting across intercity luxury buses, express railway trains, domestic flights, and holiday tours.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5120640"/>
            <a:ext cx="34015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5230368"/>
            <a:ext cx="3127248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📍 Curated Regional Destinations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</a:defRPr>
            </a:pPr>
            <a:r>
              <a:t>High-visibility domestic showcases covering Cox's Bazar, Sylhet tea gardens, Bandarban hills, and Sajek Valley.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5120640"/>
            <a:ext cx="34015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5230368"/>
            <a:ext cx="3127248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📱 Responsive Blade &amp; Tailwind Grid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</a:defRPr>
            </a:pPr>
            <a:r>
              <a:t>Mobile-first, viewport-agnostic fluid layout engineered with utility-first Tailwind CSS and Boxicons vector icon sets.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6217920" cy="237744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00" b="1">
                <a:solidFill>
                  <a:srgbClr val="93C5FD"/>
                </a:solidFill>
                <a:latin typeface="Arial"/>
              </a:defRPr>
            </a:pPr>
            <a:r>
              <a:t>SONARGAON UNIVERSITY  •  CHAPTER 4: BOOKING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71055" y="109728"/>
            <a:ext cx="4389120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🎙️ EFAZ AHAMMAD THALHA  |  Frontend Lead &amp; UI/UX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Interactive Tour Booking &amp; Room/Seat Reservation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Dynamic seat/room allocation, guest demographic inputs, and promo code execution (Chapter 4, Figure 4.5)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Advance Travel • B.Sc. in CSE Capstone Project Defense • Sonargaon University (SU)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rial"/>
              </a:defRPr>
            </a:pPr>
            <a:r>
              <a:t>Slide 7 of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658368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_boo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710" y="1536192"/>
            <a:ext cx="6229299" cy="43799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5971032"/>
            <a:ext cx="65836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950" b="1">
                <a:solidFill>
                  <a:srgbClr val="334155"/>
                </a:solidFill>
                <a:latin typeface="Arial"/>
              </a:defRPr>
            </a:pPr>
            <a:r>
              <a:t>Figure 4.5: Interactive Tour Booking and Room/Seat Reservation Interface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463040"/>
            <a:ext cx="3913632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1600200"/>
            <a:ext cx="3547872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CORE BOOKING ENGINE CAPABILITIES</a:t>
            </a:r>
          </a:p>
          <a:p>
            <a:pPr>
              <a:spcBef>
                <a:spcPts val="1000"/>
              </a:spcBef>
              <a:defRPr sz="1100" b="1">
                <a:solidFill>
                  <a:srgbClr val="D97706"/>
                </a:solidFill>
              </a:defRPr>
            </a:pPr>
            <a:r>
              <a:t>👥 Dynamic Passenger Demographic Roster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Asynchronous client-side DOM updates dynamically generate required input fields for lead traveler and companions.</a:t>
            </a:r>
            <a:br/>
            <a:r>
              <a:t>• Captures full name, email, contact phone number, and emergency contact details.</a:t>
            </a:r>
            <a:br/>
            <a:r>
              <a:t>• Zero page reloads for seamless booking flow.</a:t>
            </a:r>
          </a:p>
          <a:p>
            <a:pPr>
              <a:spcBef>
                <a:spcPts val="1000"/>
              </a:spcBef>
              <a:defRPr sz="1100" b="1">
                <a:solidFill>
                  <a:srgbClr val="059669"/>
                </a:solidFill>
              </a:defRPr>
            </a:pPr>
            <a:r>
              <a:t>⏱️ Real-Time Seat &amp; Room Allocation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Interactive selectors allow travelers to choose journey departure/return dates, room counts, and seat numbers.</a:t>
            </a:r>
            <a:br/>
            <a:r>
              <a:t>• Validates quota limits against database inventory.</a:t>
            </a:r>
            <a:br/>
            <a:r>
              <a:t>• Room surcharges and multi-seat allocations computed dynamically.</a:t>
            </a:r>
          </a:p>
          <a:p>
            <a:pPr>
              <a:spcBef>
                <a:spcPts val="1000"/>
              </a:spcBef>
              <a:defRPr sz="1100" b="1">
                <a:solidFill>
                  <a:srgbClr val="2563EB"/>
                </a:solidFill>
              </a:defRPr>
            </a:pPr>
            <a:r>
              <a:t>🏷️ Automated Promotional Voucher Engine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Instant client-side deduction validating promotional vouchers (e.g., `EID2026` 15% discount).</a:t>
            </a:r>
            <a:br/>
            <a:r>
              <a:t>• Calculates applicable discount with upper-bound cap.</a:t>
            </a:r>
            <a:br/>
            <a:r>
              <a:t>• Transparent price breakdown displaying base fare, room additions, discounts, and net total.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6217920" cy="237744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00" b="1">
                <a:solidFill>
                  <a:srgbClr val="93C5FD"/>
                </a:solidFill>
                <a:latin typeface="Arial"/>
              </a:defRPr>
            </a:pPr>
            <a:r>
              <a:t>SONARGAON UNIVERSITY  •  CHAPTER 4: CUSTOMER PORTAL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71055" y="109728"/>
            <a:ext cx="4389120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🎙️ EFAZ AHAMMAD THALHA  |  Frontend Lead &amp; UI/UX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Traveler Self-Service Dashboard &amp; Trip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End-to-end booking tracking, one-click ticket re-downloads, and self-service cancellations (Chapter 4, Figure 4.8)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Advance Travel • B.Sc. in CSE Capstone Project Defense • Sonargaon University (SU)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rial"/>
              </a:defRPr>
            </a:pPr>
            <a:r>
              <a:t>Slide 8 of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658368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_user_d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710" y="1536192"/>
            <a:ext cx="6229299" cy="43799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5971032"/>
            <a:ext cx="65836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950" b="1">
                <a:solidFill>
                  <a:srgbClr val="334155"/>
                </a:solidFill>
                <a:latin typeface="Arial"/>
              </a:defRPr>
            </a:pPr>
            <a:r>
              <a:t>Figure 4.8: Traveler Self-Service Dashboard Displaying Active Bookings and Trip 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463040"/>
            <a:ext cx="3913632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1600200"/>
            <a:ext cx="3547872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TRAVELER PORTAL &amp; ACTIONS</a:t>
            </a:r>
          </a:p>
          <a:p>
            <a:pPr>
              <a:spcBef>
                <a:spcPts val="1000"/>
              </a:spcBef>
              <a:defRPr sz="1100" b="1">
                <a:solidFill>
                  <a:srgbClr val="D97706"/>
                </a:solidFill>
              </a:defRPr>
            </a:pPr>
            <a:r>
              <a:t>⏳ Active Journey Countdown &amp; Tracking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Displays active, completed, and cancelled reservations with route metadata, departure schedules, seat allocations, and live trip status.</a:t>
            </a:r>
            <a:br/>
            <a:r>
              <a:t>• Real-time countdown clocks display remaining days to departure, creating pre-trip confidence.</a:t>
            </a:r>
            <a:br/>
            <a:r>
              <a:t>• Complete history log of past travel investments.</a:t>
            </a:r>
          </a:p>
          <a:p>
            <a:pPr>
              <a:spcBef>
                <a:spcPts val="1000"/>
              </a:spcBef>
              <a:defRPr sz="1100" b="1">
                <a:solidFill>
                  <a:srgbClr val="2563EB"/>
                </a:solidFill>
              </a:defRPr>
            </a:pPr>
            <a:r>
              <a:t>📄 One-Click E-Ticket &amp; Receipt Access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Travelers can instantly re-download printable PDF invoices and view their digital boarding pass with embedded QR code.</a:t>
            </a:r>
            <a:br/>
            <a:r>
              <a:t>• Eliminates paper loss and terminal counter queuing.</a:t>
            </a:r>
            <a:br/>
            <a:r>
              <a:t>• Accessible on any mobile browser anytime, anywhere.</a:t>
            </a:r>
          </a:p>
          <a:p>
            <a:pPr>
              <a:spcBef>
                <a:spcPts val="1000"/>
              </a:spcBef>
              <a:defRPr sz="1100" b="1">
                <a:solidFill>
                  <a:srgbClr val="059669"/>
                </a:solidFill>
              </a:defRPr>
            </a:pPr>
            <a:r>
              <a:t>🔄 Self-Service Booking Cancellation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Enables travelers to initiate self-service cancellations for upcoming journeys prior to departure date.</a:t>
            </a:r>
            <a:br/>
            <a:r>
              <a:t>• Helper method `canBeCancelled()` prevents cancellation of departed tours.</a:t>
            </a:r>
            <a:br/>
            <a:r>
              <a:t>• Automatically transitions booking status and logs refund requests.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6217920" cy="237744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00" b="1">
                <a:solidFill>
                  <a:srgbClr val="93C5FD"/>
                </a:solidFill>
                <a:latin typeface="Arial"/>
              </a:defRPr>
            </a:pPr>
            <a:r>
              <a:t>SONARGAON UNIVERSITY  •  LIVE SYSTEM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71055" y="109728"/>
            <a:ext cx="4389120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🎙️ EFAZ AHAMMAD THALHA  |  Frontend Lead &amp; UI/UX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Live Software Demonstration: End-to-End Traveler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Demonstrating the running Laravel 12 application on local production-parity environment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Advance Travel • B.Sc. in CSE Capstone Project Defense • Sonargaon University (SU)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rial"/>
              </a:defRPr>
            </a:pPr>
            <a:r>
              <a:t>Slide 9 of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2542032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1627632"/>
            <a:ext cx="1097280" cy="2286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97706"/>
                </a:solidFill>
              </a:defRPr>
            </a:pPr>
            <a: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901952"/>
            <a:ext cx="217627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Explore &amp; Filter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</a:defRPr>
            </a:pPr>
            <a:r>
              <a:t>• Browse destination catalog (`/explore`)</a:t>
            </a:r>
            <a:br/>
            <a:r>
              <a:t>• Filter by transit mode / region</a:t>
            </a:r>
            <a:br/>
            <a:r>
              <a:t>• Open 'Sajek Valley 3-Day Tour'</a:t>
            </a:r>
            <a:br/>
            <a:r>
              <a:t>• Inspect multi-day itinerary &amp; inclusions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463040"/>
            <a:ext cx="2542032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39312" y="1627632"/>
            <a:ext cx="1097280" cy="228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1901952"/>
            <a:ext cx="217627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Reserve &amp; Calculate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</a:defRPr>
            </a:pPr>
            <a:r>
              <a:t>• Enter passenger names &amp; contacts</a:t>
            </a:r>
            <a:br/>
            <a:r>
              <a:t>• Select travel date &amp; seat count</a:t>
            </a:r>
            <a:br/>
            <a:r>
              <a:t>• Apply promo code (`EID2026`)</a:t>
            </a:r>
            <a:br/>
            <a:r>
              <a:t>• Verify dynamic price computation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463040"/>
            <a:ext cx="2542032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64224" y="1627632"/>
            <a:ext cx="1097280" cy="2286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1901952"/>
            <a:ext cx="217627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SSLCommerz Checkout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</a:defRPr>
            </a:pPr>
            <a:r>
              <a:t>• Launch payment gateway modal</a:t>
            </a:r>
            <a:br/>
            <a:r>
              <a:t>• Simulate bKash / Card transaction</a:t>
            </a:r>
            <a:br/>
            <a:r>
              <a:t>• Trigger server-to-server IPN webhook</a:t>
            </a:r>
            <a:br/>
            <a:r>
              <a:t>• Confirm instant DB status = `paid`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06256" y="1463040"/>
            <a:ext cx="2542032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89136" y="1627632"/>
            <a:ext cx="1097280" cy="228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F46E5"/>
                </a:solidFill>
              </a:defRPr>
            </a:pPr>
            <a: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901952"/>
            <a:ext cx="217627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QR Boarding Pass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</a:defRPr>
            </a:pPr>
            <a:r>
              <a:t>• View digital ticket (`/ticket/{id}`)</a:t>
            </a:r>
            <a:br/>
            <a:r>
              <a:t>• Inspect high-density QR token</a:t>
            </a:r>
            <a:br/>
            <a:r>
              <a:t>• Open `/verify-ticket/{code}`</a:t>
            </a:r>
            <a:br/>
            <a:r>
              <a:t>• Display green authenticated pass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029200"/>
            <a:ext cx="10728655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02352"/>
            <a:ext cx="10271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⚡ PREPARED LIVE DEFENSE DEMONSTRATION ENVIRONMENT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Local Instance: http://127.0.0.1:8000 (Laravel Herd: http://advance-travel.test)  •  PHP 8.4 Runtime  •  SQLite Database Engine</a:t>
            </a:r>
          </a:p>
          <a:p>
            <a:pPr>
              <a:spcBef>
                <a:spcPts val="200"/>
              </a:spcBef>
              <a:defRPr sz="1000" b="1">
                <a:solidFill>
                  <a:srgbClr val="2563EB"/>
                </a:solidFill>
              </a:defRPr>
            </a:pPr>
            <a:r>
              <a:t>Prepared Credentials: Traveler [user@travel.com / password123]  |  System Administrator [admin@travel.com / password123]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6217920" cy="237744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00" b="1">
                <a:solidFill>
                  <a:srgbClr val="93C5FD"/>
                </a:solidFill>
                <a:latin typeface="Arial"/>
              </a:defRPr>
            </a:pPr>
            <a:r>
              <a:t>SONARGAON UNIVERSITY  •  CHAPTER 4: ALGORITHMS &amp;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71055" y="109728"/>
            <a:ext cx="4389120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🎙️ MD. ABDUR RAKIB  |  Database Architect &amp;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Core Algorithmic Implementations &amp; Technical Code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Deterministic formulations governing dynamic pricing, IPN hash verification, and tokenized QR validation (Chapter 4, Section 4.3)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Advance Travel • B.Sc. in CSE Capstone Project Defense • Sonargaon University (SU)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rial"/>
              </a:defRPr>
            </a:pPr>
            <a:r>
              <a:t>Slide 10 of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3401568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27632"/>
            <a:ext cx="3035808" cy="4471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📐 1. Dynamic Pricing Model</a:t>
            </a:r>
          </a:p>
          <a:p>
            <a:pPr>
              <a:spcBef>
                <a:spcPts val="800"/>
              </a:spcBef>
              <a:defRPr sz="850">
                <a:solidFill>
                  <a:srgbClr val="334155"/>
                </a:solidFill>
              </a:defRPr>
            </a:pPr>
            <a:r>
              <a:t>MATHEMATICAL FORMULATION:</a:t>
            </a:r>
            <a:br/>
            <a:r>
              <a:t>Total Fare = (Seats × Unit_Price) + ((Rooms - 1) × 1500) - Discount</a:t>
            </a:r>
            <a:br/>
            <a:br/>
            <a:r>
              <a:t>Where Promotional Discount is:</a:t>
            </a:r>
            <a:br/>
            <a:r>
              <a:t>Discount = Min(Base_Price × Rate, Cap) if Valid</a:t>
            </a:r>
            <a:br/>
            <a:br/>
            <a:r>
              <a:t>CODE LOGIC (BookingController.php):</a:t>
            </a:r>
            <a:br/>
            <a:r>
              <a:t>• Validates seat count and room count bounds</a:t>
            </a:r>
            <a:br/>
            <a:r>
              <a:t>• Applied promo code 'EID2026' grants 15% discount:</a:t>
            </a:r>
            <a:br/>
            <a:r>
              <a:t>  $discount = round($totalPrice * 0.15, 2);</a:t>
            </a:r>
            <a:br/>
            <a:r>
              <a:t>• Enforces zero-floor constraint:</a:t>
            </a:r>
            <a:br/>
            <a:r>
              <a:t>  $finalTotal = max(0, $totalPrice - $discount);</a:t>
            </a:r>
            <a:br/>
            <a:r>
              <a:t>• Stores verified total in bookings 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63040"/>
            <a:ext cx="3401568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627632"/>
            <a:ext cx="3035808" cy="4471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🔒 2. SSLCommerz IPN Hash Checksum</a:t>
            </a:r>
          </a:p>
          <a:p>
            <a:pPr>
              <a:spcBef>
                <a:spcPts val="800"/>
              </a:spcBef>
              <a:defRPr sz="850">
                <a:solidFill>
                  <a:srgbClr val="334155"/>
                </a:solidFill>
              </a:defRPr>
            </a:pPr>
            <a:r>
              <a:t>MATHEMATICAL HASH FORMULATION:</a:t>
            </a:r>
            <a:br/>
            <a:r>
              <a:t>ComputedHash = Hash(Tran_ID + Amount + Currency + Status + Store_Password)</a:t>
            </a:r>
            <a:br/>
            <a:br/>
            <a:r>
              <a:t>SECURITY LOGIC (PaymentController.php):</a:t>
            </a:r>
            <a:br/>
            <a:r>
              <a:t>• Intercepts asynchronous POST callback from gateway</a:t>
            </a:r>
            <a:br/>
            <a:r>
              <a:t>• Extracts tran_id, val_id, and currency</a:t>
            </a:r>
            <a:br/>
            <a:r>
              <a:t>• Executes secondary server-to-server query against SSLCommerz Validation API</a:t>
            </a:r>
            <a:br/>
            <a:r>
              <a:t>• Reconciles database amount against paid amount</a:t>
            </a:r>
            <a:br/>
            <a:r>
              <a:t>• Atomically updates booking status to 'paid'</a:t>
            </a:r>
            <a:br/>
            <a:r>
              <a:t>• Records timestamped ledger in payments table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401568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627632"/>
            <a:ext cx="3035808" cy="4471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🔑 3. Tokenized QR Ticket Verification</a:t>
            </a:r>
          </a:p>
          <a:p>
            <a:pPr>
              <a:spcBef>
                <a:spcPts val="800"/>
              </a:spcBef>
              <a:defRPr sz="850">
                <a:solidFill>
                  <a:srgbClr val="334155"/>
                </a:solidFill>
              </a:defRPr>
            </a:pPr>
            <a:r>
              <a:t>VERIFICATION URI FORMULATION:</a:t>
            </a:r>
            <a:br/>
            <a:r>
              <a:t>https://advance-travel.test/verify-ticket/{booking_code}</a:t>
            </a:r>
            <a:br/>
            <a:br/>
            <a:r>
              <a:t>FIELD GATE INSPECTION LOGIC:</a:t>
            </a:r>
            <a:br/>
            <a:r>
              <a:t>• Station master scans high-density QR matrix</a:t>
            </a:r>
            <a:br/>
            <a:r>
              <a:t>• Dispatches GET request to public verification route</a:t>
            </a:r>
            <a:br/>
            <a:r>
              <a:t>• Queries database by unique booking_code:</a:t>
            </a:r>
            <a:br/>
            <a:r>
              <a:t>  $booking = Booking::where('booking_code', $code)</a:t>
            </a:r>
            <a:br/>
            <a:r>
              <a:t>• Validates conditions:</a:t>
            </a:r>
            <a:br/>
            <a:r>
              <a:t>  status !== 'cancelled' &amp;&amp; payment_status === 'paid'</a:t>
            </a:r>
            <a:br/>
            <a:r>
              <a:t>• Renders instant green verified checkmark</a:t>
            </a:r>
            <a:br/>
            <a:r>
              <a:t>• Blocks duplicate entry attempts in real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6217920" cy="237744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00" b="1">
                <a:solidFill>
                  <a:srgbClr val="93C5FD"/>
                </a:solidFill>
                <a:latin typeface="Arial"/>
              </a:defRPr>
            </a:pPr>
            <a:r>
              <a:t>SONARGAON UNIVERSITY  •  FINANCIAL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71055" y="109728"/>
            <a:ext cx="4389120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🎙️ MD. ABDUR RAKIB  |  Database Architect &amp;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Automated Multi-Channel Financial Settlement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PCI-DSS certified gateway integration with server-to-server Instant Payment Notification (IPN)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Advance Travel • B.Sc. in CSE Capstone Project Defense • Sonargaon University (SU)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rial"/>
              </a:defRPr>
            </a:pPr>
            <a:r>
              <a:t>Slide 11 of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10728655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600200"/>
            <a:ext cx="102714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TRANSACTION LIFECYCLE &amp; ASYNCHRONOUS IPN FLOW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1. Checkout Initiation  ➔  2. SSLCommerz Gateway (bKash/Nagad/Cards)  ➔  3. Server IPN Webhook  ➔  4. SHA-512 Verification  ➔  5. Paid Status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Server-to-server webhook architecture eliminates reliance on the user's browser redirect, guaranteeing 100% financial reconciliation even if network disconnects.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0400"/>
            <a:ext cx="3401568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64992"/>
            <a:ext cx="303580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🔒 Cryptographic Checksum Verification</a:t>
            </a:r>
          </a:p>
          <a:p>
            <a:pPr>
              <a:spcBef>
                <a:spcPts val="800"/>
              </a:spcBef>
              <a:defRPr sz="900">
                <a:solidFill>
                  <a:srgbClr val="334155"/>
                </a:solidFill>
              </a:defRPr>
            </a:pPr>
            <a:r>
              <a:t>• Every webhook payload sent by SSLCommerz is verified using SHA-512 cryptographic checksums.</a:t>
            </a:r>
            <a:br/>
            <a:r>
              <a:t>• Validates tran_id, currency, and exact amount to prevent client-side tampering.</a:t>
            </a:r>
            <a:br/>
            <a:r>
              <a:t>• Direct server-to-server validation API query cross-checks transaction credentials.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200400"/>
            <a:ext cx="3401568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364992"/>
            <a:ext cx="303580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⚡ Network Disconnection Resilience</a:t>
            </a:r>
          </a:p>
          <a:p>
            <a:pPr>
              <a:spcBef>
                <a:spcPts val="800"/>
              </a:spcBef>
              <a:defRPr sz="900">
                <a:solidFill>
                  <a:srgbClr val="334155"/>
                </a:solidFill>
              </a:defRPr>
            </a:pPr>
            <a:r>
              <a:t>• If a traveler's phone battery dies or internet disconnects immediately after payment on the gateway, the server-side IPN webhook reliably completes the transaction.</a:t>
            </a:r>
            <a:br/>
            <a:r>
              <a:t>• Updates booking state from 'pending' to 'paid' in the database.</a:t>
            </a:r>
            <a:br/>
            <a:r>
              <a:t>• Completely eliminates orphaned payment states.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200400"/>
            <a:ext cx="3401568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3364992"/>
            <a:ext cx="303580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🧾 Automated Invoice &amp; Ledger Audit</a:t>
            </a:r>
          </a:p>
          <a:p>
            <a:pPr>
              <a:spcBef>
                <a:spcPts val="800"/>
              </a:spcBef>
              <a:defRPr sz="900">
                <a:solidFill>
                  <a:srgbClr val="334155"/>
                </a:solidFill>
              </a:defRPr>
            </a:pPr>
            <a:r>
              <a:t>• Instant transaction completion triggers background workers that generate PDF receipts and reserve seat inventory permanently.</a:t>
            </a:r>
            <a:br/>
            <a:r>
              <a:t>• Dispatches automated email confirmation notifications.</a:t>
            </a:r>
            <a:br/>
            <a:r>
              <a:t>• Records full serialized JSON gateway payload in the payments table for accounting audit.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6217920" cy="237744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00" b="1">
                <a:solidFill>
                  <a:srgbClr val="93C5FD"/>
                </a:solidFill>
                <a:latin typeface="Arial"/>
              </a:defRPr>
            </a:pPr>
            <a:r>
              <a:t>SONARGAON UNIVERSITY  •  CHAPTER 4: TICKETING &amp; QR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71055" y="109728"/>
            <a:ext cx="4389120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🎙️ MD. ABDUR RAKIB  |  Database Architect &amp;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Anti-Counterfeit Digital Boarding Pass &amp; QR Verification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Tokenized machine-readable QR boarding passes with public camera verification (Chapter 4, Figures 4.6 &amp; 4.7)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Advance Travel • B.Sc. in CSE Capstone Project Defense • Sonargaon University (SU)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rial"/>
              </a:defRPr>
            </a:pPr>
            <a:r>
              <a:t>Slide 12 of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230368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_ti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390" y="1536192"/>
            <a:ext cx="4408627" cy="30998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4690872"/>
            <a:ext cx="5230368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950" b="1">
                <a:solidFill>
                  <a:srgbClr val="334155"/>
                </a:solidFill>
                <a:latin typeface="Arial"/>
              </a:defRPr>
            </a:pPr>
            <a:r>
              <a:t>Figure 4.6: Generated Digital E-Ticket and Boarding Pass with High-Density QR Token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230368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creenshot_verify_ti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124" y="1536192"/>
            <a:ext cx="4667958" cy="30998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17920" y="4690872"/>
            <a:ext cx="5230368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950" b="1">
                <a:solidFill>
                  <a:srgbClr val="334155"/>
                </a:solidFill>
                <a:latin typeface="Arial"/>
              </a:defRPr>
            </a:pPr>
            <a:r>
              <a:t>Figure 4.7: Public Gate Ticket Verification Portal with Real-Time Authenticity Badge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20640"/>
            <a:ext cx="340156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230368"/>
            <a:ext cx="312724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t>🔐 High-Density QR Matrix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</a:defRPr>
            </a:pPr>
            <a:r>
              <a:t>Encodes structured alphanumeric data (booking_code and URI) with built-in Reed-Solomon error correction.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5120640"/>
            <a:ext cx="340156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5230368"/>
            <a:ext cx="312724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t>📷 Zero Proprietary Handheld Hardware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</a:defRPr>
            </a:pPr>
            <a:r>
              <a:t>Station attendants and tour guides authenticate tickets in under 1 second using standard smartphone web browsers.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5120640"/>
            <a:ext cx="340156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5230368"/>
            <a:ext cx="312724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t>🚫 Anti-Scalping &amp; Duplication Guard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</a:defRPr>
            </a:pPr>
            <a:r>
              <a:t>Directly queries the database in real time to verify legal passenger credentials and block duplicate entries.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6217920" cy="237744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00" b="1">
                <a:solidFill>
                  <a:srgbClr val="93C5FD"/>
                </a:solidFill>
                <a:latin typeface="Arial"/>
              </a:defRPr>
            </a:pPr>
            <a:r>
              <a:t>SONARGAON UNIVERSITY  •  CHAPTER 4: ADMIN ERP &amp; BI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71055" y="109728"/>
            <a:ext cx="4389120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🎙️ MD. ABDUR RAKIB  |  Database Architect &amp;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Administrative Control Dashboard &amp; Business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Real-time operational analytics, package CRUD management, and refund processing (Chapter 4, Figures 4.10, 4.11, 4.12)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Advance Travel • B.Sc. in CSE Capstone Project Defense • Sonargaon University (SU)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rial"/>
              </a:defRPr>
            </a:pPr>
            <a:r>
              <a:t>Slide 13 of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658368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_admin_d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710" y="1536192"/>
            <a:ext cx="6229299" cy="43799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5971032"/>
            <a:ext cx="65836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950" b="1">
                <a:solidFill>
                  <a:srgbClr val="334155"/>
                </a:solidFill>
                <a:latin typeface="Arial"/>
              </a:defRPr>
            </a:pPr>
            <a:r>
              <a:t>Figure 4.10: Administrative Control Dashboard with Real-Time Financial and Booking KPIs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463040"/>
            <a:ext cx="3913632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1600200"/>
            <a:ext cx="3547872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ADMINISTRATIVE ERP SUITE</a:t>
            </a:r>
          </a:p>
          <a:p>
            <a:pPr>
              <a:spcBef>
                <a:spcPts val="1000"/>
              </a:spcBef>
              <a:defRPr sz="1100" b="1">
                <a:solidFill>
                  <a:srgbClr val="059669"/>
                </a:solidFill>
              </a:defRPr>
            </a:pPr>
            <a:r>
              <a:t>📊 Executive Business Intelligence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Real-time financial KPI cards displaying Gross Merchandise Volume (GMV: 120,270 BDT), total bookings count (15 bookings), active travel services (31 services), and refund queues (2 requests).</a:t>
            </a:r>
            <a:br/>
            <a:r>
              <a:t>• Tabular recent customer booking feed with live payment badges (`Paid`, `Unpaid`).</a:t>
            </a:r>
          </a:p>
          <a:p>
            <a:pPr>
              <a:spcBef>
                <a:spcPts val="1000"/>
              </a:spcBef>
              <a:defRPr sz="1100" b="1">
                <a:solidFill>
                  <a:srgbClr val="2563EB"/>
                </a:solidFill>
              </a:defRPr>
            </a:pPr>
            <a:r>
              <a:t>📦 Tour Package Inventory Management (CRUD)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Administrative package control panel (`/admin/packages`, Fig. 4.11) enabling full Create, Read, Update, Delete controls.</a:t>
            </a:r>
            <a:br/>
            <a:r>
              <a:t>• Configure transport routes, seat quotas, base fares, package descriptions, and departure blackout dates.</a:t>
            </a:r>
          </a:p>
          <a:p>
            <a:pPr>
              <a:spcBef>
                <a:spcPts val="1000"/>
              </a:spcBef>
              <a:defRPr sz="1100" b="1">
                <a:solidFill>
                  <a:srgbClr val="4F46E5"/>
                </a:solidFill>
              </a:defRPr>
            </a:pPr>
            <a:r>
              <a:t>🔄 Booking Lifecycle &amp; Automated Refunds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Booking management interface (`/admin/bookings`, Fig. 4.12) allowing administrators to approve, cancel, or transition booking status.</a:t>
            </a:r>
            <a:br/>
            <a:r>
              <a:t>• Integrated refund processing (`/admin/bookings/{id}/refund`) with automated ledger updates and customer notification dispatch.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6217920" cy="237744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00" b="1">
                <a:solidFill>
                  <a:srgbClr val="93C5FD"/>
                </a:solidFill>
                <a:latin typeface="Arial"/>
              </a:defRPr>
            </a:pPr>
            <a:r>
              <a:t>SONARGAON UNIVERSITY  •  CHAPTER 4: TESTING &amp; QA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71055" y="109728"/>
            <a:ext cx="4389120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🎙️ MD. ABDUR RAKIB  |  Database Architect &amp;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Quality Assurance, Testing Matrices &amp; Performance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Rigorous black-box test execution matrix (Table 4.1) and Google Lighthouse performance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Advance Travel • B.Sc. in CSE Capstone Project Defense • Sonargaon University (SU)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rial"/>
              </a:defRPr>
            </a:pPr>
            <a:r>
              <a:t>Slide 14 of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2542032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1627632"/>
            <a:ext cx="1463040" cy="228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AUTH &amp;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901952"/>
            <a:ext cx="2176272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Bcrypt &amp; RBAC</a:t>
            </a:r>
          </a:p>
          <a:p>
            <a:pPr>
              <a:spcBef>
                <a:spcPts val="800"/>
              </a:spcBef>
              <a:defRPr sz="850">
                <a:solidFill>
                  <a:srgbClr val="334155"/>
                </a:solidFill>
              </a:defRPr>
            </a:pPr>
            <a:r>
              <a:t>• TC-01: Traveler registration and Bcrypt password hashing [PASSED]</a:t>
            </a:r>
            <a:br/>
            <a:r>
              <a:t>• TC-02: Invalid login authentication blocked [PASSED]</a:t>
            </a:r>
            <a:br/>
            <a:r>
              <a:t>• TC-09: Unauthorized admin URL access intercepted with HTTP 403 [PASSED]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463040"/>
            <a:ext cx="2542032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39312" y="1627632"/>
            <a:ext cx="1463040" cy="2286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97706"/>
                </a:solidFill>
              </a:defRPr>
            </a:pPr>
            <a:r>
              <a:t>BOOKING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1901952"/>
            <a:ext cx="2176272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Catalog &amp; Quotas</a:t>
            </a:r>
          </a:p>
          <a:p>
            <a:pPr>
              <a:spcBef>
                <a:spcPts val="800"/>
              </a:spcBef>
              <a:defRPr sz="850">
                <a:solidFill>
                  <a:srgbClr val="334155"/>
                </a:solidFill>
              </a:defRPr>
            </a:pPr>
            <a:r>
              <a:t>• TC-03: Package catalog filtering by transit category &amp; price [PASSED]</a:t>
            </a:r>
            <a:br/>
            <a:r>
              <a:t>• TC-04: Booking submission and dynamic total fare calculation [PASSED]</a:t>
            </a:r>
            <a:br/>
            <a:r>
              <a:t>• TC-10: Self-service booking cancellation and refund request [PASSED]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463040"/>
            <a:ext cx="2542032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64224" y="1627632"/>
            <a:ext cx="1463040" cy="2286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PAYMENT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1901952"/>
            <a:ext cx="2176272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SSLCommerz IPN</a:t>
            </a:r>
          </a:p>
          <a:p>
            <a:pPr>
              <a:spcBef>
                <a:spcPts val="800"/>
              </a:spcBef>
              <a:defRPr sz="850">
                <a:solidFill>
                  <a:srgbClr val="334155"/>
                </a:solidFill>
              </a:defRPr>
            </a:pPr>
            <a:r>
              <a:t>• TC-05: Valid IPN webhook transitions status to 'paid' [PASSED]</a:t>
            </a:r>
            <a:br/>
            <a:r>
              <a:t>• TC-06: Mismatched checksum / amount rejected with HTTP 400 [PASSED]</a:t>
            </a:r>
            <a:br/>
            <a:r>
              <a:t>• Atomic ledger recording in payments table [PASSED]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06256" y="1463040"/>
            <a:ext cx="2542032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89136" y="1627632"/>
            <a:ext cx="1463040" cy="228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F46E5"/>
                </a:solidFill>
              </a:defRPr>
            </a:pPr>
            <a:r>
              <a:t>QR TICKETING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901952"/>
            <a:ext cx="2176272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Gate Verification</a:t>
            </a:r>
          </a:p>
          <a:p>
            <a:pPr>
              <a:spcBef>
                <a:spcPts val="800"/>
              </a:spcBef>
              <a:defRPr sz="850">
                <a:solidFill>
                  <a:srgbClr val="334155"/>
                </a:solidFill>
              </a:defRPr>
            </a:pPr>
            <a:r>
              <a:t>• TC-07: Digital boarding pass synthesis with valid QR token [PASSED]</a:t>
            </a:r>
            <a:br/>
            <a:r>
              <a:t>• TC-08: Public gate portal confirms authenticity via mobile camera browser [PASSED]</a:t>
            </a:r>
            <a:br/>
            <a:r>
              <a:t>• Single-entry guard prevents duplicate reuse [PASSED]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937760"/>
            <a:ext cx="254203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047488"/>
            <a:ext cx="226771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⚡ Performance</a:t>
            </a:r>
          </a:p>
          <a:p>
            <a:pPr>
              <a:spcBef>
                <a:spcPts val="200"/>
              </a:spcBef>
              <a:defRPr sz="2000" b="1">
                <a:solidFill>
                  <a:srgbClr val="2563EB"/>
                </a:solidFill>
              </a:defRPr>
            </a:pPr>
            <a:r>
              <a:t>96 / 100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FCP: 0.8s | LCP: 1.2s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56432" y="4937760"/>
            <a:ext cx="254203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93592" y="5047488"/>
            <a:ext cx="226771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♿ Accessibility</a:t>
            </a:r>
          </a:p>
          <a:p>
            <a:pPr>
              <a:spcBef>
                <a:spcPts val="200"/>
              </a:spcBef>
              <a:defRPr sz="2000" b="1">
                <a:solidFill>
                  <a:srgbClr val="059669"/>
                </a:solidFill>
              </a:defRPr>
            </a:pPr>
            <a:r>
              <a:t>98 / 100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WCAG 2.1 AA Compliant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4937760"/>
            <a:ext cx="254203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8504" y="5047488"/>
            <a:ext cx="226771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🛡️ Best Practices</a:t>
            </a:r>
          </a:p>
          <a:p>
            <a:pPr>
              <a:spcBef>
                <a:spcPts val="200"/>
              </a:spcBef>
              <a:defRPr sz="2000" b="1">
                <a:solidFill>
                  <a:srgbClr val="4F46E5"/>
                </a:solidFill>
              </a:defRPr>
            </a:pPr>
            <a:r>
              <a:t>100 / 100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HTTPS, Secure Cookies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06256" y="4937760"/>
            <a:ext cx="254203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43416" y="5047488"/>
            <a:ext cx="226771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🔍 SEO Score</a:t>
            </a:r>
          </a:p>
          <a:p>
            <a:pPr>
              <a:spcBef>
                <a:spcPts val="200"/>
              </a:spcBef>
              <a:defRPr sz="2000" b="1">
                <a:solidFill>
                  <a:srgbClr val="D97706"/>
                </a:solidFill>
              </a:defRPr>
            </a:pPr>
            <a:r>
              <a:t>95 / 100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Semantic Meta Markup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6217920" cy="237744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00" b="1">
                <a:solidFill>
                  <a:srgbClr val="93C5FD"/>
                </a:solidFill>
                <a:latin typeface="Arial"/>
              </a:defRPr>
            </a:pPr>
            <a:r>
              <a:t>SONARGAON UNIVERSITY  •  CHAPTER 5: STANDARDS &amp; BUDGETS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71055" y="109728"/>
            <a:ext cx="4389120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🎙️ MD. ABDUR RAKIB  |  Database Architect &amp;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Engineering Standards, Washington Accord Mapping &amp; Feasibility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Compliance with IEEE/ISO standards, BAETE complex engineering attributes, and financial budgets (Chapter 5)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Advance Travel • B.Sc. in CSE Capstone Project Defense • Sonargaon University (SU)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rial"/>
              </a:defRPr>
            </a:pPr>
            <a:r>
              <a:t>Slide 15 of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3401568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627632"/>
            <a:ext cx="3072384" cy="4471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🛡️ COMPUTING STANDARDS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• IEEE 12207 Life Cycle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Followed structured engineering lifecycle: SRS elicitation, architectural design, unit/integration testing, and deployment verification.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• ISO/IEC 25010 Quality Model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Evaluated against 8 quality characteristics: functional suitability, performance efficiency, reliability, security, and maintainability.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• OWASP Top 10 Compliance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SQL injection neutralized via Eloquent PDO binding, XSS escaped via Blade, CSRF tokens enforced on all mutating HTTP requests.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• PCI-DSS Security Principles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Adheres to payment security by delegating card data collection exclusively to Level 1 PCI-DSS certified SSLCommerz gateway.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63040"/>
            <a:ext cx="3401568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27632"/>
            <a:ext cx="3072384" cy="4471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4F46E5"/>
                </a:solidFill>
              </a:defRPr>
            </a:pPr>
            <a:r>
              <a:t>📜 WASHINGTON ACCORD (BAETE)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• WP1: Depth of Knowledge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Requires advanced computer science principles: relational database theory (3NF), cryptographic hash validation, and multi-tier MVC architecture.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• WP2: Conflicting Constraints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Reconciled conflicting engineering requirements: delivering sub-200ms page response while enforcing pessimistic transaction locking.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• WP3: Non-Standard Integration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Engineered custom server-to-server SSLCommerz webhook with SHA-512 checksum validation.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• WP6 &amp; EP3: Societal / Legal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Complies with Bangladesh ICT Act and green computing principles, eliminating paper tickets to save ~150,000 sheets of paper and 18 trees annually.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401568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627632"/>
            <a:ext cx="3072384" cy="4471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59669"/>
                </a:solidFill>
              </a:defRPr>
            </a:pPr>
            <a:r>
              <a:t>💰 FINANCIAL FEASIBILITY &amp; ROI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• Academic R&amp;D Budget: 10,000 BDT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Table 5.1: Covers staging VPS (6,000 BDT) and project report documentation/binding (4,000 BDT) using open-source stack (PHP, Laravel, SQLite).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• Annual Commercial Cloud: 170,900 BDT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Table 5.2: Monthly 12,700 BDT encompassing application VPS (5.5k), managed DB (4.0k), SSLCommerz setup (15k/yr), and transactional SMS/Email.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• Revenue Model: 10% Commission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Platform earns 10% commission on all gross travel bookings plus premium featured package listings.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• Full Break-Even: 8.2 Months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Projected complete capital recovery within 8.2 months at a conservative commercial volume of 120 bookings per month.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6217920" cy="237744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00" b="1">
                <a:solidFill>
                  <a:srgbClr val="93C5FD"/>
                </a:solidFill>
                <a:latin typeface="Arial"/>
              </a:defRPr>
            </a:pPr>
            <a:r>
              <a:t>SONARGAON UNIVERSITY  •  CHAPTER 6: CONCLUSION &amp; VIVA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71055" y="109728"/>
            <a:ext cx="4389120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🎙️ ALL PRESENTERS  |  Misty • Rakib • Thalha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Project Summary, Delivered Contributions &amp; Defense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Fulfilling capstone objectives and advancing digital tourism through software engineering excellence (Chapter 6)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Advance Travel • B.Sc. in CSE Capstone Project Defense • Sonargaon University (SU)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rial"/>
              </a:defRPr>
            </a:pPr>
            <a:r>
              <a:t>Slide 16 of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230368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600200"/>
            <a:ext cx="4773168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🎯 DELIVERED PROJECT CONTRIBUTIONS</a:t>
            </a:r>
          </a:p>
          <a:p>
            <a:pPr>
              <a:spcBef>
                <a:spcPts val="400"/>
              </a:spcBef>
              <a:defRPr sz="950" b="1">
                <a:solidFill>
                  <a:srgbClr val="059669"/>
                </a:solidFill>
              </a:defRPr>
            </a:pPr>
            <a:r>
              <a:t>✓ Unified Multi-Modal Tourism Marketplace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Consolidated luxury buses, trains, domestic flights, and holiday hotels into a responsive portal.</a:t>
            </a:r>
          </a:p>
          <a:p>
            <a:pPr>
              <a:spcBef>
                <a:spcPts val="400"/>
              </a:spcBef>
              <a:defRPr sz="950" b="1">
                <a:solidFill>
                  <a:srgbClr val="059669"/>
                </a:solidFill>
              </a:defRPr>
            </a:pPr>
            <a:r>
              <a:t>✓ Automated Multi-Channel Financial Settlement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Integrated SSLCommerz gateway with asynchronous IPN webhook validation and automated ledger recording.</a:t>
            </a:r>
          </a:p>
          <a:p>
            <a:pPr>
              <a:spcBef>
                <a:spcPts val="400"/>
              </a:spcBef>
              <a:defRPr sz="950" b="1">
                <a:solidFill>
                  <a:srgbClr val="059669"/>
                </a:solidFill>
              </a:defRPr>
            </a:pPr>
            <a:r>
              <a:t>✓ Zero Double-Booking Concurrency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Pessimistic database transaction locks prevent race conditions during simultaneous reservations.</a:t>
            </a:r>
          </a:p>
          <a:p>
            <a:pPr>
              <a:spcBef>
                <a:spcPts val="400"/>
              </a:spcBef>
              <a:defRPr sz="950" b="1">
                <a:solidFill>
                  <a:srgbClr val="059669"/>
                </a:solidFill>
              </a:defRPr>
            </a:pPr>
            <a:r>
              <a:t>✓ Cryptographic Paperless Digital Boarding Passes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High-density QR boarding passes with universal smartphone camera verification for station masters.</a:t>
            </a:r>
          </a:p>
          <a:p>
            <a:pPr>
              <a:spcBef>
                <a:spcPts val="400"/>
              </a:spcBef>
              <a:defRPr sz="950" b="1">
                <a:solidFill>
                  <a:srgbClr val="059669"/>
                </a:solidFill>
              </a:defRPr>
            </a:pPr>
            <a:r>
              <a:t>✓ Green Computing &amp; Environmental Conservation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Replaces physical tickets with digital passes, conserving ~150,000 sheets of paper and 18 trees annually.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230368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00200"/>
            <a:ext cx="4773168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4F46E5"/>
                </a:solidFill>
              </a:defRPr>
            </a:pPr>
            <a:r>
              <a:t>🚀 FUTURE RESEARCH &amp; DEVELOPMENT HORIZONS</a:t>
            </a:r>
          </a:p>
          <a:p>
            <a:pPr>
              <a:spcBef>
                <a:spcPts val="400"/>
              </a:spcBef>
              <a:defRPr sz="950" b="1">
                <a:solidFill>
                  <a:srgbClr val="2563EB"/>
                </a:solidFill>
              </a:defRPr>
            </a:pPr>
            <a:r>
              <a:t>• AI Recommendation Engine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Integrating machine learning collaborative filtering for personalized travel packages.</a:t>
            </a:r>
          </a:p>
          <a:p>
            <a:pPr>
              <a:spcBef>
                <a:spcPts val="400"/>
              </a:spcBef>
              <a:defRPr sz="950" b="1">
                <a:solidFill>
                  <a:srgbClr val="2563EB"/>
                </a:solidFill>
              </a:defRPr>
            </a:pPr>
            <a:r>
              <a:t>• Multi-Vendor Agency Marketplace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Refactoring administrative layer into a multi-tenant platform for regional operators.</a:t>
            </a:r>
          </a:p>
          <a:p>
            <a:pPr>
              <a:spcBef>
                <a:spcPts val="400"/>
              </a:spcBef>
              <a:defRPr sz="950" b="1">
                <a:solidFill>
                  <a:srgbClr val="2563EB"/>
                </a:solidFill>
              </a:defRPr>
            </a:pPr>
            <a:r>
              <a:t>• Dedicated Native Mobile Apps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Developing Flutter/React Native mobile apps with Apple Wallet / Google Wallet pass storage.</a:t>
            </a:r>
          </a:p>
          <a:p>
            <a:pPr>
              <a:spcBef>
                <a:spcPts val="400"/>
              </a:spcBef>
              <a:defRPr sz="950" b="1">
                <a:solidFill>
                  <a:srgbClr val="2563EB"/>
                </a:solidFill>
              </a:defRPr>
            </a:pPr>
            <a:r>
              <a:t>• Offline Asymmetric Cryptography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Embedding Ed25519 digital signatures for offline gate inspection without active internet.</a:t>
            </a:r>
          </a:p>
          <a:p>
            <a:pPr>
              <a:spcBef>
                <a:spcPts val="400"/>
              </a:spcBef>
              <a:defRPr sz="950" b="1">
                <a:solidFill>
                  <a:srgbClr val="2563EB"/>
                </a:solidFill>
              </a:defRPr>
            </a:pPr>
            <a:r>
              <a:t>• Integrated Dynamic SVG Seat Maps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Interactive visual SVG canvas seat selector allowing travelers to visually pick bus/train seats.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92040"/>
            <a:ext cx="10728655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983480"/>
            <a:ext cx="102714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THANK YOU FOR YOUR TIME &amp; ATTENTION • QUESTIONS &amp; ANSWERS (Q&amp;A)</a:t>
            </a:r>
          </a:p>
          <a:p>
            <a:pPr algn="ctr"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We express our sincere gratitude to our supervisor Md. Rashedul Islam sir, Department Head Prof. Bulbul Ahamed sir, and the respected Defense Board.</a:t>
            </a:r>
          </a:p>
          <a:p>
            <a:pPr algn="ctr">
              <a:spcBef>
                <a:spcPts val="300"/>
              </a:spcBef>
              <a:defRPr sz="1050" b="1">
                <a:solidFill>
                  <a:srgbClr val="059669"/>
                </a:solidFill>
              </a:defRPr>
            </a:pPr>
            <a:r>
              <a:t>Md. Amir Shorif Misty (CSE2203027142)  •  Md. Abdur Rakib (CSE2203027141)  •  Efaz Ahammad Thalha (CSE2203027172)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